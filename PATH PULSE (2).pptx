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chive" panose="020B0604020202020204" charset="0"/>
      <p:regular r:id="rId16"/>
    </p:embeddedFont>
    <p:embeddedFont>
      <p:font typeface="Archivo Black" panose="020B0604020202020204" charset="0"/>
      <p:regular r:id="rId17"/>
    </p:embeddedFont>
    <p:embeddedFont>
      <p:font typeface="Canva Sans" panose="020B0604020202020204" charset="0"/>
      <p:regular r:id="rId18"/>
    </p:embeddedFont>
    <p:embeddedFont>
      <p:font typeface="Canva Sans Bold" panose="020B0604020202020204" charset="0"/>
      <p:regular r:id="rId19"/>
    </p:embeddedFont>
    <p:embeddedFont>
      <p:font typeface="Garet" panose="020B0604020202020204" charset="0"/>
      <p:regular r:id="rId20"/>
    </p:embeddedFont>
    <p:embeddedFont>
      <p:font typeface="Garet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blp.org/rec/journals/iotj/KongWHHZS24?utm_source=chatgpt.com" TargetMode="External"/><Relationship Id="rId3" Type="http://schemas.openxmlformats.org/officeDocument/2006/relationships/hyperlink" Target="https://www.kaggle.com" TargetMode="External"/><Relationship Id="rId7" Type="http://schemas.openxmlformats.org/officeDocument/2006/relationships/hyperlink" Target="https://ideas.repec.org/a/kap/netspa/v23y2023i2d10.1007_s11067-021-09542-9.html?utm_source=chatgpt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holar.google.com" TargetMode="External"/><Relationship Id="rId11" Type="http://schemas.openxmlformats.org/officeDocument/2006/relationships/hyperlink" Target="https://www.mdpi.com/1424-8220/24/6/1716?utm_source=chatgpt.com" TargetMode="External"/><Relationship Id="rId5" Type="http://schemas.openxmlformats.org/officeDocument/2006/relationships/hyperlink" Target="https://openai.com/index/chatgpt/" TargetMode="External"/><Relationship Id="rId10" Type="http://schemas.openxmlformats.org/officeDocument/2006/relationships/hyperlink" Target="https://www.sciencedirect.com/science/article/pii/S221242092400387X?utm_source=chatgpt.com" TargetMode="External"/><Relationship Id="rId4" Type="http://schemas.openxmlformats.org/officeDocument/2006/relationships/hyperlink" Target="https://github.com" TargetMode="External"/><Relationship Id="rId9" Type="http://schemas.openxmlformats.org/officeDocument/2006/relationships/hyperlink" Target="https://www.ijser.in/archives/v13i2/SE25203124752.pdf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88397" y="0"/>
            <a:ext cx="7100798" cy="1962592"/>
          </a:xfrm>
          <a:custGeom>
            <a:avLst/>
            <a:gdLst/>
            <a:ahLst/>
            <a:cxnLst/>
            <a:rect l="l" t="t" r="r" b="b"/>
            <a:pathLst>
              <a:path w="7100798" h="1962592">
                <a:moveTo>
                  <a:pt x="0" y="0"/>
                </a:moveTo>
                <a:lnTo>
                  <a:pt x="7100798" y="0"/>
                </a:lnTo>
                <a:lnTo>
                  <a:pt x="7100798" y="1962592"/>
                </a:lnTo>
                <a:lnTo>
                  <a:pt x="0" y="19625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8000"/>
            </a:blip>
            <a:stretch>
              <a:fillRect t="-41024" b="-4102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7737263"/>
            <a:ext cx="10119393" cy="1856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SUBMITTED  BY:</a:t>
            </a:r>
          </a:p>
          <a:p>
            <a:pPr algn="l">
              <a:lnSpc>
                <a:spcPts val="4809"/>
              </a:lnSpc>
            </a:pPr>
            <a:r>
              <a:rPr lang="en-US" sz="36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BHANI KAUR - 2427030487</a:t>
            </a:r>
          </a:p>
          <a:p>
            <a:pPr marL="0" lvl="0" indent="0" algn="l">
              <a:lnSpc>
                <a:spcPts val="4809"/>
              </a:lnSpc>
              <a:spcBef>
                <a:spcPct val="0"/>
              </a:spcBef>
            </a:pPr>
            <a:r>
              <a:rPr lang="en-US" sz="36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VARSHITHA VASAGUDDAM-2427030516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52514" y="3733015"/>
            <a:ext cx="10773446" cy="120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PATH PULSE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967217" y="5076825"/>
            <a:ext cx="12430523" cy="58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3"/>
              </a:lnSpc>
            </a:pPr>
            <a:r>
              <a:rPr lang="en-US" sz="344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Emphasizes awareness and intelligence in daily movement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3662" y="7680113"/>
            <a:ext cx="4465638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SUPERVISED BY:</a:t>
            </a:r>
          </a:p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SHWETA SHARMA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7949" y="2120144"/>
            <a:ext cx="8130352" cy="1379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sz="260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and Engineering</a:t>
            </a:r>
          </a:p>
          <a:p>
            <a:pPr algn="ctr">
              <a:lnSpc>
                <a:spcPts val="3647"/>
              </a:lnSpc>
            </a:pPr>
            <a:r>
              <a:rPr lang="en-US" sz="260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of Computer Science and Engineering</a:t>
            </a:r>
          </a:p>
          <a:p>
            <a:pPr algn="ctr">
              <a:lnSpc>
                <a:spcPts val="3647"/>
              </a:lnSpc>
            </a:pPr>
            <a:endParaRPr lang="en-US" sz="260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98559" y="1438574"/>
            <a:ext cx="3493612" cy="1759510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98559" y="3800774"/>
            <a:ext cx="3493612" cy="3493612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648272" y="1438574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48272" y="6126134"/>
            <a:ext cx="2611028" cy="1428944"/>
          </a:xfrm>
          <a:custGeom>
            <a:avLst/>
            <a:gdLst/>
            <a:ahLst/>
            <a:cxnLst/>
            <a:rect l="l" t="t" r="r" b="b"/>
            <a:pathLst>
              <a:path w="2611028" h="1428944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48272" y="7989418"/>
            <a:ext cx="2611028" cy="1020674"/>
          </a:xfrm>
          <a:custGeom>
            <a:avLst/>
            <a:gdLst/>
            <a:ahLst/>
            <a:cxnLst/>
            <a:rect l="l" t="t" r="r" b="b"/>
            <a:pathLst>
              <a:path w="2611028" h="1020674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398559" y="7894461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782545"/>
            <a:ext cx="6118024" cy="76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88"/>
              </a:lnSpc>
              <a:spcBef>
                <a:spcPct val="0"/>
              </a:spcBef>
            </a:pPr>
            <a:r>
              <a:rPr lang="en-US" sz="6908" spc="-545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OUTLINE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5337" y="1849778"/>
            <a:ext cx="8726528" cy="785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95316" lvl="1" indent="-447658" algn="l">
              <a:lnSpc>
                <a:spcPts val="5805"/>
              </a:lnSpc>
              <a:buFont typeface="Arial"/>
              <a:buChar char="•"/>
            </a:pPr>
            <a:r>
              <a:rPr lang="en-US" sz="41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  <a:p>
            <a:pPr algn="l">
              <a:lnSpc>
                <a:spcPts val="5665"/>
              </a:lnSpc>
            </a:pPr>
            <a:endParaRPr lang="en-US" sz="41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  <a:p>
            <a:pPr algn="l">
              <a:lnSpc>
                <a:spcPts val="5665"/>
              </a:lnSpc>
            </a:pPr>
            <a:endParaRPr lang="en-US" sz="404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73726" lvl="1" indent="-436863" algn="l">
              <a:lnSpc>
                <a:spcPts val="5665"/>
              </a:lnSpc>
              <a:buFont typeface="Arial"/>
              <a:buChar char="•"/>
            </a:pPr>
            <a:r>
              <a:rPr lang="en-US" sz="404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59569" y="3670998"/>
            <a:ext cx="46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9569" y="345033"/>
            <a:ext cx="46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55907" y="4039298"/>
            <a:ext cx="7203393" cy="96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208"/>
              </a:lnSpc>
              <a:spcBef>
                <a:spcPct val="0"/>
              </a:spcBef>
            </a:pPr>
            <a:r>
              <a:rPr lang="en-US" sz="7208" spc="-56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9569" y="7056854"/>
            <a:ext cx="46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6732" y="354558"/>
            <a:ext cx="7810167" cy="235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sz="27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Women’s safety during daily travel has become a major concern, especially when commuting alone or at late hours. Similar risks can also affect children, elders, and other individuals..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6732" y="3625968"/>
            <a:ext cx="7152837" cy="246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33"/>
              </a:lnSpc>
            </a:pPr>
            <a:r>
              <a:rPr lang="en-US" sz="28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Many people follow fixed daily routes, and any sudden change or delay can signal potential danger. Tracking such movements can help identify unsafe situations early.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6732" y="7056854"/>
            <a:ext cx="7152837" cy="188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3"/>
              </a:lnSpc>
            </a:pPr>
            <a:r>
              <a:rPr lang="en-US" sz="27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app aims to enhance safety by detecting unusual travel patterns and ensuring quick alerts to trusted contacts when something seems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4472" y="26055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795450" y="-711863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26811" y="470551"/>
            <a:ext cx="9144148" cy="96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96"/>
              </a:lnSpc>
              <a:spcBef>
                <a:spcPct val="0"/>
              </a:spcBef>
            </a:pPr>
            <a:r>
              <a:rPr lang="en-US" sz="7396" spc="-584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LITERATURE REVIEW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1000" y="4829784"/>
            <a:ext cx="16916400" cy="1159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3035" lvl="1" indent="-356518" algn="l">
              <a:lnSpc>
                <a:spcPts val="4623"/>
              </a:lnSpc>
              <a:buFont typeface="Arial"/>
              <a:buChar char="•"/>
            </a:pPr>
            <a:r>
              <a:rPr lang="en-US" sz="3302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Existing safety apps rely on manual </a:t>
            </a:r>
            <a:r>
              <a:rPr lang="en-US" sz="3302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trigger;few</a:t>
            </a:r>
            <a:r>
              <a:rPr lang="en-US" sz="3302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use behavioral learning for proactive alerts.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1000" y="6385232"/>
            <a:ext cx="14377591" cy="1157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9662" lvl="1" indent="-349831" algn="l">
              <a:lnSpc>
                <a:spcPts val="4536"/>
              </a:lnSpc>
              <a:buFont typeface="Arial"/>
              <a:buChar char="•"/>
            </a:pPr>
            <a:r>
              <a:rPr lang="en-US" sz="32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project fills the gap by combining routine learning with</a:t>
            </a:r>
          </a:p>
          <a:p>
            <a:pPr algn="r">
              <a:lnSpc>
                <a:spcPts val="4676"/>
              </a:lnSpc>
            </a:pPr>
            <a:r>
              <a:rPr lang="en-US" sz="3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real-time alerting, tailored to individual movement patterns.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304800" y="2095499"/>
            <a:ext cx="13621425" cy="3518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70" lvl="1" indent="-356235" algn="ctr">
              <a:lnSpc>
                <a:spcPts val="462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Noonlight</a:t>
            </a:r>
            <a:r>
              <a:rPr lang="en-US" sz="33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(formerly </a:t>
            </a:r>
            <a:r>
              <a:rPr lang="en-US" sz="33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SafeTrek</a:t>
            </a:r>
            <a:r>
              <a:rPr lang="en-US" sz="33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 :Emergency alerts, 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hold-button /silent SOS features.</a:t>
            </a:r>
          </a:p>
          <a:p>
            <a:pPr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>
              <a:lnSpc>
                <a:spcPts val="4620"/>
              </a:lnSpc>
            </a:pPr>
            <a:endParaRPr lang="en-US" sz="33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4620"/>
              </a:lnSpc>
            </a:pPr>
            <a:endParaRPr lang="en-US" sz="33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4620"/>
              </a:lnSpc>
            </a:pPr>
            <a:endParaRPr lang="en-US" sz="33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1000" y="7930128"/>
            <a:ext cx="17600073" cy="1159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62" lvl="1" indent="-356231" algn="l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Time-series models like LSTM and clustering algorithms(K-Means, DBSCAN) are effective for  identifying deviations in sequential data.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1000" y="3371648"/>
            <a:ext cx="15546654" cy="1749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Life360:Real-time location sharing, geofencing, crash ,detection, emergency contacts. Could notice when user leaves expected zone</a:t>
            </a:r>
          </a:p>
          <a:p>
            <a:pPr algn="l">
              <a:lnSpc>
                <a:spcPts val="4620"/>
              </a:lnSpc>
            </a:pPr>
            <a:endParaRPr lang="en-US" sz="33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0" y="74145"/>
          <a:ext cx="18288001" cy="10529262"/>
        </p:xfrm>
        <a:graphic>
          <a:graphicData uri="http://schemas.openxmlformats.org/drawingml/2006/table">
            <a:tbl>
              <a:tblPr/>
              <a:tblGrid>
                <a:gridCol w="355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9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12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234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Paper Name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Abstract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Technology Used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Result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Conclusion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53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Routine Pattern Discovery and Anomaly Detection in Individual Travel Behavior (Sun et al., 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Explores spatiotemporal travel behavior and discovers routine movement patterns. Uses probabilistic modeling to detect anomalies in daily travel routes.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2D-LDA (Two-Dimensional Latent Dirichlet Allocation), unsupervised learning on trajectory/LPR datasets.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Successfully identifies unusual trips by comparing them with learned daily patterns.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Probabilistic topic models work well in capturing sparse human travel behavior and detecting deviations.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50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Mobile Trajectory Anomaly Detection: Taxonomy, Methodology, Challenges, and Directions (Kong et al., 2024)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 complete survey of anomaly detection</a:t>
                      </a: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in mobile trajectories. Defines anomaly types and compares common algorithms.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Deep learning, clustering, density-based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models, sequential modeling, mobility data processing.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endParaRPr lang="en-US" sz="12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Provides a unified taxonomy and shows</a:t>
                      </a:r>
                    </a:p>
                    <a:p>
                      <a:pPr algn="ctr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strengths/weaknesses of existing models.</a:t>
                      </a:r>
                    </a:p>
                    <a:p>
                      <a:pPr algn="ctr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</a:p>
                    <a:p>
                      <a:pPr algn="ctr">
                        <a:lnSpc>
                          <a:spcPts val="1960"/>
                        </a:lnSpc>
                      </a:pPr>
                      <a:endParaRPr lang="en-US" sz="14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Future systems must focus on privacy,</a:t>
                      </a:r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real-time detection, sparse-data handling, and interpretability.</a:t>
                      </a:r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</a:p>
                    <a:p>
                      <a:pPr algn="ctr">
                        <a:lnSpc>
                          <a:spcPts val="1820"/>
                        </a:lnSpc>
                      </a:pPr>
                      <a:endParaRPr lang="en-US" sz="13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195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Threat Eye – Safety Alert System for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Real-Time Threat Detection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Develops an Android app that sends rapid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SOS messages and shares live location when the user is in danger.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Android Studio, GPS, SMS/Internet</a:t>
                      </a:r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communication, mobile UI.</a:t>
                      </a:r>
                    </a:p>
                    <a:p>
                      <a:pPr algn="ctr">
                        <a:lnSpc>
                          <a:spcPts val="2240"/>
                        </a:lnSpc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Successfully sends emergency alerts and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shares real-time location with trusted contacts.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Smartphone-based alert systems improve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personal safety by enabling quick emergency communication.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8176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Feasibility of Anomalous Event Detection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Using Mobile Spatial Statistics (Mas &amp; Koshimura, 2024)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Examines whether aggregated mobile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location data can detect population anomalies related to events/disasters.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Mobile Spatial Statistics (MSS),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spatial-temporal anomaly detection.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Found that unusual spikes/drops in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population movement align with known events.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MSS is useful for large-scale anomaly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detection but requires calibration for biases and local patterns.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281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Anomaly Detection &amp; Mobile Network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Security Enhancement Using K-Means on CDRs (Aziz &amp; Bestak, 2024)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Uses clustering on call detail records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to detect suspicious or unusual mobile network behavior.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K-means clustering, CDR analytics,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large-scale data processing.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Achieved high anomaly detection accuracy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using telecom data patterns.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 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CDR-based clustering is effective for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detecting network threats and security anomalies.</a:t>
                      </a:r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9054" y="897183"/>
            <a:ext cx="7203393" cy="168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8"/>
              </a:lnSpc>
            </a:pPr>
            <a:r>
              <a:rPr lang="en-US" sz="6508" spc="-514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PROBLEM STATEMENT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9054" y="3479165"/>
            <a:ext cx="17978946" cy="431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6"/>
              </a:lnSpc>
              <a:spcBef>
                <a:spcPct val="0"/>
              </a:spcBef>
            </a:pPr>
            <a:r>
              <a:rPr lang="en-US" sz="376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today’s world, personal safety has become a growing concern, especially for individuals who travel alone or at odd hours. Existing safety apps rely on manual alerts, which may not be possible during emergencies. There is a need for an intelligent system that can automatically learn a person’s daily travel routine, detect unusual route deviations or timing anomalies in real time, and alert trusted contacts without requiring user intervention.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27475" y="445452"/>
            <a:ext cx="4292798" cy="1052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7175" y="2206445"/>
            <a:ext cx="17773650" cy="668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develop a smart safety application that ensures quick and reliable emergency response for users.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enhance personal safety, especially for women and vulnerable individuals, through AI and real-time monitoring.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detect unusual or risky situations automatically using machine learning and location tracking.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enable hands-free emergency alerts using voice activation and custom code words.</a:t>
            </a:r>
          </a:p>
          <a:p>
            <a:pPr marL="744983" lvl="1" indent="-372491" algn="just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build community awareness and cooperation through a connected safety network.</a:t>
            </a:r>
          </a:p>
          <a:p>
            <a:pPr algn="just">
              <a:lnSpc>
                <a:spcPts val="4830"/>
              </a:lnSpc>
            </a:pPr>
            <a:endParaRPr lang="en-US" sz="34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r>
              <a:rPr lang="en-IN" dirty="0"/>
              <a:t>Y</a:t>
            </a:r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0586" y="952500"/>
            <a:ext cx="19418962" cy="884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1"/>
              </a:lnSpc>
            </a:pPr>
            <a:r>
              <a:rPr lang="en-US" sz="3836" u="sng" dirty="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Architecture &amp; Technologies</a:t>
            </a:r>
          </a:p>
          <a:p>
            <a:pPr algn="l">
              <a:lnSpc>
                <a:spcPts val="4570"/>
              </a:lnSpc>
            </a:pPr>
            <a:r>
              <a:rPr lang="en-US" sz="3264" u="sng" dirty="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Methodology – System Architecture</a:t>
            </a:r>
          </a:p>
          <a:p>
            <a:pPr algn="l">
              <a:lnSpc>
                <a:spcPts val="4144"/>
              </a:lnSpc>
            </a:pPr>
            <a:r>
              <a:rPr lang="en-US" sz="296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The system is developed as a web-based safety application using Flask.</a:t>
            </a:r>
          </a:p>
          <a:p>
            <a:pPr algn="l">
              <a:lnSpc>
                <a:spcPts val="4144"/>
              </a:lnSpc>
            </a:pPr>
            <a:r>
              <a:rPr lang="en-US" sz="296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It follows a client–server architecture.</a:t>
            </a:r>
          </a:p>
          <a:p>
            <a:pPr algn="l">
              <a:lnSpc>
                <a:spcPts val="4570"/>
              </a:lnSpc>
            </a:pPr>
            <a:r>
              <a:rPr lang="en-US" sz="3264" b="1" u="sng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Frontend:</a:t>
            </a:r>
          </a:p>
          <a:p>
            <a:pPr marL="629155" lvl="1" indent="-314578" algn="l">
              <a:lnSpc>
                <a:spcPts val="4079"/>
              </a:lnSpc>
              <a:buFont typeface="Arial"/>
              <a:buChar char="•"/>
            </a:pPr>
            <a:r>
              <a:rPr lang="en-US" sz="2914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HTML, CSS, Bootstrap</a:t>
            </a:r>
          </a:p>
          <a:p>
            <a:pPr marL="629155" lvl="1" indent="-314578" algn="l">
              <a:lnSpc>
                <a:spcPts val="4079"/>
              </a:lnSpc>
              <a:buFont typeface="Arial"/>
              <a:buChar char="•"/>
            </a:pPr>
            <a:r>
              <a:rPr lang="en-US" sz="2914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JavaScript for location handling</a:t>
            </a:r>
          </a:p>
          <a:p>
            <a:pPr marL="629155" lvl="1" indent="-314578" algn="l">
              <a:lnSpc>
                <a:spcPts val="4079"/>
              </a:lnSpc>
              <a:buFont typeface="Arial"/>
              <a:buChar char="•"/>
            </a:pPr>
            <a:r>
              <a:rPr lang="en-US" sz="2914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Responsive dashboard interface</a:t>
            </a:r>
          </a:p>
          <a:p>
            <a:pPr algn="l">
              <a:lnSpc>
                <a:spcPts val="4564"/>
              </a:lnSpc>
            </a:pPr>
            <a:r>
              <a:rPr lang="en-US" sz="3260" b="1" u="sng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Backend:</a:t>
            </a:r>
          </a:p>
          <a:p>
            <a:pPr marL="579997" lvl="1" indent="-289998" algn="l">
              <a:lnSpc>
                <a:spcPts val="3760"/>
              </a:lnSpc>
              <a:buFont typeface="Arial"/>
              <a:buChar char="•"/>
            </a:pPr>
            <a:r>
              <a:rPr lang="en-US" sz="2686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Python Flask framework</a:t>
            </a:r>
          </a:p>
          <a:p>
            <a:pPr marL="579997" lvl="1" indent="-289998" algn="l">
              <a:lnSpc>
                <a:spcPts val="3760"/>
              </a:lnSpc>
              <a:buFont typeface="Arial"/>
              <a:buChar char="•"/>
            </a:pPr>
            <a:r>
              <a:rPr lang="en-US" sz="2686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Handles location processing and anomaly detection</a:t>
            </a:r>
          </a:p>
          <a:p>
            <a:pPr algn="l">
              <a:lnSpc>
                <a:spcPts val="3957"/>
              </a:lnSpc>
            </a:pPr>
            <a:r>
              <a:rPr lang="en-US" sz="2826" b="1" u="sng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Database:</a:t>
            </a:r>
          </a:p>
          <a:p>
            <a:pPr marL="604889" lvl="1" indent="-302444" algn="l">
              <a:lnSpc>
                <a:spcPts val="3922"/>
              </a:lnSpc>
              <a:buFont typeface="Arial"/>
              <a:buChar char="•"/>
            </a:pPr>
            <a:r>
              <a:rPr lang="en-US" sz="280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SQLite database (</a:t>
            </a:r>
            <a:r>
              <a:rPr lang="en-US" sz="280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routes.db</a:t>
            </a:r>
            <a:r>
              <a:rPr lang="en-US" sz="280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marL="604889" lvl="1" indent="-302444" algn="l">
              <a:lnSpc>
                <a:spcPts val="3922"/>
              </a:lnSpc>
              <a:buFont typeface="Arial"/>
              <a:buChar char="•"/>
            </a:pPr>
            <a:r>
              <a:rPr lang="en-US" sz="280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Stores latitude, longitude, and timestamp</a:t>
            </a:r>
          </a:p>
          <a:p>
            <a:pPr algn="l">
              <a:lnSpc>
                <a:spcPts val="3742"/>
              </a:lnSpc>
            </a:pPr>
            <a:r>
              <a:rPr lang="en-US" sz="2672" b="1" u="sng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APIs Used:</a:t>
            </a:r>
          </a:p>
          <a:p>
            <a:pPr marL="586731" lvl="1" indent="-293365" algn="l">
              <a:lnSpc>
                <a:spcPts val="3804"/>
              </a:lnSpc>
              <a:buFont typeface="Arial"/>
              <a:buChar char="•"/>
            </a:pPr>
            <a:r>
              <a:rPr lang="en-US" sz="2717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Browser Geolocation API</a:t>
            </a:r>
          </a:p>
          <a:p>
            <a:pPr marL="586731" lvl="1" indent="-293365" algn="l">
              <a:lnSpc>
                <a:spcPts val="3804"/>
              </a:lnSpc>
              <a:buFont typeface="Arial"/>
              <a:buChar char="•"/>
            </a:pPr>
            <a:r>
              <a:rPr lang="en-US" sz="2717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Maps for live location display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0586" y="-33020"/>
            <a:ext cx="8426214" cy="1057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86" b="-184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6703" y="558209"/>
            <a:ext cx="16456184" cy="961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4"/>
              </a:lnSpc>
              <a:spcBef>
                <a:spcPct val="0"/>
              </a:spcBef>
            </a:pPr>
            <a:r>
              <a:rPr lang="en-US" sz="4304" u="sng" spc="-34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 Location Collection &amp; Storage</a:t>
            </a:r>
          </a:p>
          <a:p>
            <a:pPr algn="l">
              <a:lnSpc>
                <a:spcPts val="4304"/>
              </a:lnSpc>
              <a:spcBef>
                <a:spcPct val="0"/>
              </a:spcBef>
            </a:pPr>
            <a:endParaRPr lang="en-US" sz="4304" u="sng" spc="-34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just">
              <a:lnSpc>
                <a:spcPts val="4304"/>
              </a:lnSpc>
              <a:spcBef>
                <a:spcPct val="0"/>
              </a:spcBef>
            </a:pPr>
            <a:r>
              <a:rPr lang="en-US" sz="4304" u="sng" spc="-340" dirty="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Methodology – Location Tracking</a:t>
            </a:r>
          </a:p>
          <a:p>
            <a:pPr marL="857742" lvl="1" indent="-428871" algn="just">
              <a:lnSpc>
                <a:spcPts val="3972"/>
              </a:lnSpc>
              <a:buFont typeface="Arial"/>
              <a:buChar char="•"/>
            </a:pPr>
            <a:r>
              <a:rPr lang="en-US" sz="3200" spc="-31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collects the user’s real-time location using the Geolocation API.</a:t>
            </a:r>
          </a:p>
          <a:p>
            <a:pPr algn="just">
              <a:lnSpc>
                <a:spcPts val="4304"/>
              </a:lnSpc>
              <a:spcBef>
                <a:spcPct val="0"/>
              </a:spcBef>
            </a:pPr>
            <a:endParaRPr lang="en-US" sz="3200" spc="-313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04"/>
              </a:lnSpc>
              <a:spcBef>
                <a:spcPct val="0"/>
              </a:spcBef>
            </a:pPr>
            <a:r>
              <a:rPr lang="en-US" sz="3200" u="sng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Steps: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opens the Dashboard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Browser requests location permission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Latitude and longitude are captured automatically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Location is displayed on: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Dashboard coordinates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Map view</a:t>
            </a:r>
          </a:p>
          <a:p>
            <a:pPr marL="929252" lvl="1" indent="-464626" algn="just">
              <a:lnSpc>
                <a:spcPts val="4304"/>
              </a:lnSpc>
              <a:spcBef>
                <a:spcPct val="0"/>
              </a:spcBef>
              <a:buFont typeface="Arial"/>
              <a:buChar char="•"/>
            </a:pPr>
            <a:endParaRPr lang="en-US" sz="3200" spc="-34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04"/>
              </a:lnSpc>
              <a:spcBef>
                <a:spcPct val="0"/>
              </a:spcBef>
            </a:pPr>
            <a:r>
              <a:rPr lang="en-US" sz="3200" u="sng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Storage: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Each location is sent to Flask backend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Backend stores data in SQLite with timestamp</a:t>
            </a:r>
          </a:p>
          <a:p>
            <a:pPr marL="929252" lvl="1" indent="-464626" algn="just">
              <a:lnSpc>
                <a:spcPts val="4304"/>
              </a:lnSpc>
              <a:buFont typeface="Arial"/>
              <a:buChar char="•"/>
            </a:pPr>
            <a:r>
              <a:rPr lang="en-US" sz="3200" spc="-34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creates a continuous travel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37341" y="670234"/>
            <a:ext cx="21956578" cy="845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6"/>
              </a:lnSpc>
              <a:spcBef>
                <a:spcPct val="0"/>
              </a:spcBef>
            </a:pPr>
            <a:r>
              <a:rPr lang="en-US" sz="3966" u="sng" spc="-31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Routine Learning &amp; Anomaly Detection</a:t>
            </a:r>
          </a:p>
          <a:p>
            <a:pPr algn="just">
              <a:lnSpc>
                <a:spcPts val="3966"/>
              </a:lnSpc>
              <a:spcBef>
                <a:spcPct val="0"/>
              </a:spcBef>
            </a:pPr>
            <a:endParaRPr lang="en-US" sz="3966" u="sng" spc="-313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just">
              <a:lnSpc>
                <a:spcPts val="3966"/>
              </a:lnSpc>
              <a:spcBef>
                <a:spcPct val="0"/>
              </a:spcBef>
            </a:pPr>
            <a:r>
              <a:rPr lang="en-US" sz="3966" u="sng" spc="-31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Proposed Methodology – Intelligent Monitoring</a:t>
            </a:r>
          </a:p>
          <a:p>
            <a:pPr algn="just">
              <a:lnSpc>
                <a:spcPts val="3966"/>
              </a:lnSpc>
              <a:spcBef>
                <a:spcPct val="0"/>
              </a:spcBef>
            </a:pPr>
            <a:endParaRPr lang="en-US" sz="3966" u="sng" spc="-313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first learns the user’s normal travel behavior.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Routine Learning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Initial location records are collected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System calculates the average latitude and longitude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average represents the routine location area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Anomaly Detection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Each new location is compared with routine location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Distance is calculated using coordinate difference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If distance exceeds predefined threshold → SOS Status</a:t>
            </a:r>
          </a:p>
          <a:p>
            <a:pPr marL="856395" lvl="1" indent="-428198" algn="just">
              <a:lnSpc>
                <a:spcPts val="3966"/>
              </a:lnSpc>
              <a:buFont typeface="Arial"/>
              <a:buChar char="•"/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Otherwise → SAFE Status</a:t>
            </a:r>
          </a:p>
          <a:p>
            <a:pPr algn="just">
              <a:lnSpc>
                <a:spcPts val="3966"/>
              </a:lnSpc>
            </a:pPr>
            <a:endParaRPr lang="en-US" sz="3966" spc="-31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966"/>
              </a:lnSpc>
            </a:pPr>
            <a:endParaRPr lang="en-US" sz="3966" spc="-313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966"/>
              </a:lnSpc>
              <a:spcBef>
                <a:spcPct val="0"/>
              </a:spcBef>
            </a:pPr>
            <a:r>
              <a:rPr lang="en-US" sz="3966" spc="-3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enables automatic abnormal movement detection without manual input.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4508" y="73980"/>
            <a:ext cx="18137380" cy="960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97" u="sng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Alert Mechanism &amp; User Interface</a:t>
            </a:r>
          </a:p>
          <a:p>
            <a:pPr algn="l">
              <a:lnSpc>
                <a:spcPts val="4443"/>
              </a:lnSpc>
            </a:pPr>
            <a:r>
              <a:rPr lang="en-US" sz="3173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Methodology – Response &amp; Visualization</a:t>
            </a:r>
          </a:p>
          <a:p>
            <a:pPr algn="l">
              <a:lnSpc>
                <a:spcPts val="3827"/>
              </a:lnSpc>
            </a:pPr>
            <a:r>
              <a:rPr lang="en-US" sz="273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 System:</a:t>
            </a:r>
          </a:p>
          <a:p>
            <a:pPr algn="l">
              <a:lnSpc>
                <a:spcPts val="2915"/>
              </a:lnSpc>
            </a:pPr>
            <a:endParaRPr lang="en-US" sz="2734" b="1" u="sng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53579" lvl="1" indent="-326790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 → Green status displayed</a:t>
            </a:r>
          </a:p>
          <a:p>
            <a:pPr marL="653579" lvl="1" indent="-326790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SOS → Red alert with warning message</a:t>
            </a:r>
          </a:p>
          <a:p>
            <a:pPr marL="653579" lvl="1" indent="-326790" algn="l">
              <a:lnSpc>
                <a:spcPts val="4238"/>
              </a:lnSpc>
              <a:buFont typeface="Arial"/>
              <a:buChar char="•"/>
            </a:pPr>
            <a:r>
              <a:rPr lang="en-US" sz="30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Automatic detection based on location deviation</a:t>
            </a:r>
          </a:p>
          <a:p>
            <a:pPr algn="l">
              <a:lnSpc>
                <a:spcPts val="2915"/>
              </a:lnSpc>
            </a:pPr>
            <a:endParaRPr lang="en-US" sz="302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135"/>
              </a:lnSpc>
            </a:pPr>
            <a:r>
              <a:rPr lang="en-US" sz="2953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Interface Features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 dashboard with gradient design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 Google Map display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coordinates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Safety status indicator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Location history page</a:t>
            </a:r>
          </a:p>
          <a:p>
            <a:pPr marL="677300" lvl="1" indent="-338650" algn="l">
              <a:lnSpc>
                <a:spcPts val="4391"/>
              </a:lnSpc>
              <a:buFont typeface="Arial"/>
              <a:buChar char="•"/>
            </a:pPr>
            <a:r>
              <a:rPr lang="en-US" sz="31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Navigation between Home, Dashboard, and History</a:t>
            </a:r>
          </a:p>
          <a:p>
            <a:pPr algn="l">
              <a:lnSpc>
                <a:spcPts val="5015"/>
              </a:lnSpc>
            </a:pPr>
            <a:r>
              <a:rPr lang="en-US" sz="3582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</a:t>
            </a:r>
          </a:p>
          <a:p>
            <a:pPr algn="l">
              <a:lnSpc>
                <a:spcPts val="4531"/>
              </a:lnSpc>
            </a:pPr>
            <a:r>
              <a:rPr lang="en-US" sz="32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complete real-time personal safety monitoring system with automated risk detection and history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4106355" y="1785070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42303" y="692998"/>
            <a:ext cx="7203393" cy="77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WORKING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196904" y="242996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00125"/>
            <a:ext cx="16165315" cy="9355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kaggle.com"/>
              </a:rPr>
              <a:t>https://www.kaggle.c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kaggle.com"/>
              </a:rPr>
              <a:t>om/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github.com"/>
              </a:rPr>
              <a:t>https://github.com/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openai.com/index/chatgpt/"/>
              </a:rPr>
              <a:t>https://openai.com/index/chatgpt/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scholar.google.com"/>
              </a:rPr>
              <a:t>scholar.google.comGoogle Scholar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Routine Pattern Discovery and Anomaly Detection in Individual Travel Behavior 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ideas.repec.org/a/kap/netspa/v23y2023i2d10.1007_s11067-021-09542-9.html?utm_source=chatgpt.com"/>
              </a:rPr>
              <a:t>IDEAS/RePEc+2IDEAS/RePEc+2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Sun, L., Chen, X., He, Z., &amp; Miranda-Moreno, L. F. (2023). Routine Pattern Discovery and Anomaly Detection in Individual Travel Behavior. Networks and Spatial Economics, 23(2), 407-428.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Trajectory Anomaly Detection: Taxonomy, Methodology, Challenges, and Directions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dblp.org/rec/journals/iotj/KongWHHZS24?utm_source=chatgpt.com"/>
              </a:rPr>
              <a:t>DBLP+1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Kong, X., Wang, J., Hu, Z., He, Y., Zhao, X., &amp; Shen, G. (2024). Mobile Trajectory Anomaly Detection: Taxonomy, Methodology, Challenges, and Directions. IEEE Internet of Things Journal, 11(11), 19210-19231.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An Application of Safety Alert System for Real Time Threat …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www.ijser.in/archives/v13i2/SE25203124752.pdf?utm_source=chatgpt.com"/>
              </a:rPr>
              <a:t>ijser.in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(2023). An Application of Safety Alert System for Real Time Threat Detection (Android Application), IJSER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Feasibility of Anomalous Event Detection Based on Mobile Spatial Statistics (MSS)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sciencedirect.com/science/article/pii/S221242092400387X?utm_source=chatgpt.com"/>
              </a:rPr>
              <a:t>Direct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Mas, E., et al. (2024). Feasibility of anomalous event detection based on Mobile Spatial Statistics (MSS). Computers, Environment and Urban Systems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Insight into Anomaly Detection and Prediction and Mobile Network Security Enhancement Leveraging K-Means Clustering on Call Detail Records  </a:t>
            </a:r>
            <a:r>
              <a:rPr lang="en-US" sz="185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1" tooltip="https://www.mdpi.com/1424-8220/24/6/1716?utm_source=chatgpt.com"/>
              </a:rPr>
              <a:t>PI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Reference: Aziz, Z., &amp; Bestak, R. (2024). Insight into Anomaly Detection and Prediction and Mobile Network Security Enhancement Leveraging K-Means Clustering on Call Detail Records. Sensors, 24(6):1716.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</a:t>
            </a: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https://www.youtube.com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Flask Documentation – https://flask.palletsprojects.com/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Python Documentation – https://docs.python.org/3/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SQLite Documentation – https://www.sqlite.org/docs.html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Geolocation API – https://developer.mozilla.org/en-US/docs/Web/API/Geolocation_API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Google Maps Embed API – https://developers.google.com/maps/documentation/embed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Bootstrap Framework – https://getbootstrap.com/</a:t>
            </a:r>
          </a:p>
          <a:p>
            <a:pPr algn="l">
              <a:lnSpc>
                <a:spcPts val="2063"/>
              </a:lnSpc>
              <a:spcBef>
                <a:spcPct val="0"/>
              </a:spcBef>
            </a:pPr>
            <a:endParaRPr lang="en-US" sz="185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063"/>
              </a:lnSpc>
              <a:spcBef>
                <a:spcPct val="0"/>
              </a:spcBef>
            </a:pPr>
            <a:endParaRPr lang="en-US" sz="185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13464" y="4209245"/>
            <a:ext cx="6261073" cy="93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8"/>
              </a:lnSpc>
            </a:pPr>
            <a:r>
              <a:rPr lang="en-US" sz="8407" spc="-664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1568</Words>
  <Application>Microsoft Office PowerPoint</Application>
  <PresentationFormat>Custom</PresentationFormat>
  <Paragraphs>240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Canva Sans Bold</vt:lpstr>
      <vt:lpstr>Garet</vt:lpstr>
      <vt:lpstr>Archivo Black</vt:lpstr>
      <vt:lpstr>Archive</vt:lpstr>
      <vt:lpstr>Canva Sans</vt:lpstr>
      <vt:lpstr>Garet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PULSE</dc:title>
  <cp:lastModifiedBy>varshitha vasaguddam</cp:lastModifiedBy>
  <cp:revision>2</cp:revision>
  <dcterms:created xsi:type="dcterms:W3CDTF">2006-08-16T00:00:00Z</dcterms:created>
  <dcterms:modified xsi:type="dcterms:W3CDTF">2026-02-15T11:02:43Z</dcterms:modified>
  <dc:identifier>DAG1TAkxSsY</dc:identifier>
</cp:coreProperties>
</file>